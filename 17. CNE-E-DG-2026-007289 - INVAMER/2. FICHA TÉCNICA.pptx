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428" r:id="rId5"/>
    <p:sldId id="257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65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B633FB-FE9A-4F48-9602-34B7548094BD}" v="4" dt="2025-11-21T12:03:44.6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70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dy Zapata" userId="fbf22290-4796-4a6d-8052-cec258ced68d" providerId="ADAL" clId="{29C8145A-1E9A-4708-B569-04EDFA76AE31}"/>
    <pc:docChg chg="undo custSel modSld">
      <pc:chgData name="Fredy Zapata" userId="fbf22290-4796-4a6d-8052-cec258ced68d" providerId="ADAL" clId="{29C8145A-1E9A-4708-B569-04EDFA76AE31}" dt="2025-11-20T23:24:22.690" v="526" actId="1035"/>
      <pc:docMkLst>
        <pc:docMk/>
      </pc:docMkLst>
      <pc:sldChg chg="addSp modSp mod">
        <pc:chgData name="Fredy Zapata" userId="fbf22290-4796-4a6d-8052-cec258ced68d" providerId="ADAL" clId="{29C8145A-1E9A-4708-B569-04EDFA76AE31}" dt="2025-11-20T23:24:22.690" v="526" actId="1035"/>
        <pc:sldMkLst>
          <pc:docMk/>
          <pc:sldMk cId="1970076050" sldId="257"/>
        </pc:sldMkLst>
        <pc:spChg chg="add mod">
          <ac:chgData name="Fredy Zapata" userId="fbf22290-4796-4a6d-8052-cec258ced68d" providerId="ADAL" clId="{29C8145A-1E9A-4708-B569-04EDFA76AE31}" dt="2025-11-20T23:24:15.877" v="518" actId="1036"/>
          <ac:spMkLst>
            <pc:docMk/>
            <pc:sldMk cId="1970076050" sldId="257"/>
            <ac:spMk id="2" creationId="{3BADCCD6-3E12-4772-33A8-B4ADBE953013}"/>
          </ac:spMkLst>
        </pc:spChg>
        <pc:spChg chg="mod">
          <ac:chgData name="Fredy Zapata" userId="fbf22290-4796-4a6d-8052-cec258ced68d" providerId="ADAL" clId="{29C8145A-1E9A-4708-B569-04EDFA76AE31}" dt="2025-11-20T23:24:22.690" v="526" actId="1035"/>
          <ac:spMkLst>
            <pc:docMk/>
            <pc:sldMk cId="1970076050" sldId="257"/>
            <ac:spMk id="11" creationId="{77730E7E-AFD4-E5C7-C412-D23E5F20A9F3}"/>
          </ac:spMkLst>
        </pc:spChg>
        <pc:graphicFrameChg chg="mod modGraphic">
          <ac:chgData name="Fredy Zapata" userId="fbf22290-4796-4a6d-8052-cec258ced68d" providerId="ADAL" clId="{29C8145A-1E9A-4708-B569-04EDFA76AE31}" dt="2025-11-20T23:23:14.564" v="503" actId="122"/>
          <ac:graphicFrameMkLst>
            <pc:docMk/>
            <pc:sldMk cId="1970076050" sldId="257"/>
            <ac:graphicFrameMk id="32" creationId="{CD1D9F89-E44D-5B65-0674-84702E6A03DD}"/>
          </ac:graphicFrameMkLst>
        </pc:graphicFrameChg>
        <pc:graphicFrameChg chg="mod modGraphic">
          <ac:chgData name="Fredy Zapata" userId="fbf22290-4796-4a6d-8052-cec258ced68d" providerId="ADAL" clId="{29C8145A-1E9A-4708-B569-04EDFA76AE31}" dt="2025-11-20T23:23:54.190" v="512" actId="113"/>
          <ac:graphicFrameMkLst>
            <pc:docMk/>
            <pc:sldMk cId="1970076050" sldId="257"/>
            <ac:graphicFrameMk id="34" creationId="{F40ABD20-7690-C79B-0A6F-CCAFC071A536}"/>
          </ac:graphicFrameMkLst>
        </pc:graphicFrameChg>
      </pc:sldChg>
      <pc:sldChg chg="addSp modSp mod">
        <pc:chgData name="Fredy Zapata" userId="fbf22290-4796-4a6d-8052-cec258ced68d" providerId="ADAL" clId="{29C8145A-1E9A-4708-B569-04EDFA76AE31}" dt="2025-11-20T22:41:31.149" v="38" actId="20577"/>
        <pc:sldMkLst>
          <pc:docMk/>
          <pc:sldMk cId="2170181927" sldId="428"/>
        </pc:sldMkLst>
        <pc:spChg chg="mod">
          <ac:chgData name="Fredy Zapata" userId="fbf22290-4796-4a6d-8052-cec258ced68d" providerId="ADAL" clId="{29C8145A-1E9A-4708-B569-04EDFA76AE31}" dt="2025-11-20T22:41:31.149" v="38" actId="20577"/>
          <ac:spMkLst>
            <pc:docMk/>
            <pc:sldMk cId="2170181927" sldId="428"/>
            <ac:spMk id="3" creationId="{E7A1336A-B2E7-B2F3-CA3F-D547B9EAB1A0}"/>
          </ac:spMkLst>
        </pc:spChg>
        <pc:spChg chg="mod">
          <ac:chgData name="Fredy Zapata" userId="fbf22290-4796-4a6d-8052-cec258ced68d" providerId="ADAL" clId="{29C8145A-1E9A-4708-B569-04EDFA76AE31}" dt="2025-11-20T22:38:42.934" v="3" actId="20577"/>
          <ac:spMkLst>
            <pc:docMk/>
            <pc:sldMk cId="2170181927" sldId="428"/>
            <ac:spMk id="42" creationId="{C0E05E80-BB65-E8B2-D270-1B3C7EBAD40A}"/>
          </ac:spMkLst>
        </pc:spChg>
        <pc:spChg chg="mod">
          <ac:chgData name="Fredy Zapata" userId="fbf22290-4796-4a6d-8052-cec258ced68d" providerId="ADAL" clId="{29C8145A-1E9A-4708-B569-04EDFA76AE31}" dt="2025-11-20T22:38:53.648" v="6" actId="20577"/>
          <ac:spMkLst>
            <pc:docMk/>
            <pc:sldMk cId="2170181927" sldId="428"/>
            <ac:spMk id="49" creationId="{5EC745E8-00D1-1A7D-253A-7236DC0C5F37}"/>
          </ac:spMkLst>
        </pc:spChg>
        <pc:spChg chg="mod">
          <ac:chgData name="Fredy Zapata" userId="fbf22290-4796-4a6d-8052-cec258ced68d" providerId="ADAL" clId="{29C8145A-1E9A-4708-B569-04EDFA76AE31}" dt="2025-11-20T22:39:28.671" v="33" actId="1035"/>
          <ac:spMkLst>
            <pc:docMk/>
            <pc:sldMk cId="2170181927" sldId="428"/>
            <ac:spMk id="50" creationId="{1F95F741-984D-AA60-AC0F-9AA0457FFE84}"/>
          </ac:spMkLst>
        </pc:spChg>
        <pc:graphicFrameChg chg="add mod">
          <ac:chgData name="Fredy Zapata" userId="fbf22290-4796-4a6d-8052-cec258ced68d" providerId="ADAL" clId="{29C8145A-1E9A-4708-B569-04EDFA76AE31}" dt="2025-11-20T22:41:20.071" v="35" actId="1076"/>
          <ac:graphicFrameMkLst>
            <pc:docMk/>
            <pc:sldMk cId="2170181927" sldId="428"/>
            <ac:graphicFrameMk id="6" creationId="{5D30204A-B81C-43F7-811C-B4ECAF9AD6CD}"/>
          </ac:graphicFrameMkLst>
        </pc:graphicFrameChg>
        <pc:picChg chg="mod">
          <ac:chgData name="Fredy Zapata" userId="fbf22290-4796-4a6d-8052-cec258ced68d" providerId="ADAL" clId="{29C8145A-1E9A-4708-B569-04EDFA76AE31}" dt="2025-11-20T22:39:28.671" v="33" actId="1035"/>
          <ac:picMkLst>
            <pc:docMk/>
            <pc:sldMk cId="2170181927" sldId="428"/>
            <ac:picMk id="82" creationId="{A92B8E76-EA04-0111-0707-024AA641759B}"/>
          </ac:picMkLst>
        </pc:picChg>
      </pc:sldChg>
    </pc:docChg>
  </pc:docChgLst>
  <pc:docChgLst>
    <pc:chgData name="Fredy Zapata" userId="fbf22290-4796-4a6d-8052-cec258ced68d" providerId="ADAL" clId="{78B633FB-FE9A-4F48-9602-34B7548094BD}"/>
    <pc:docChg chg="custSel modSld">
      <pc:chgData name="Fredy Zapata" userId="fbf22290-4796-4a6d-8052-cec258ced68d" providerId="ADAL" clId="{78B633FB-FE9A-4F48-9602-34B7548094BD}" dt="2025-11-25T21:20:02.990" v="40" actId="20577"/>
      <pc:docMkLst>
        <pc:docMk/>
      </pc:docMkLst>
      <pc:sldChg chg="modSp mod">
        <pc:chgData name="Fredy Zapata" userId="fbf22290-4796-4a6d-8052-cec258ced68d" providerId="ADAL" clId="{78B633FB-FE9A-4F48-9602-34B7548094BD}" dt="2025-11-21T12:07:04.496" v="14" actId="20577"/>
        <pc:sldMkLst>
          <pc:docMk/>
          <pc:sldMk cId="1970076050" sldId="257"/>
        </pc:sldMkLst>
        <pc:graphicFrameChg chg="modGraphic">
          <ac:chgData name="Fredy Zapata" userId="fbf22290-4796-4a6d-8052-cec258ced68d" providerId="ADAL" clId="{78B633FB-FE9A-4F48-9602-34B7548094BD}" dt="2025-11-21T12:07:04.496" v="14" actId="20577"/>
          <ac:graphicFrameMkLst>
            <pc:docMk/>
            <pc:sldMk cId="1970076050" sldId="257"/>
            <ac:graphicFrameMk id="32" creationId="{CD1D9F89-E44D-5B65-0674-84702E6A03DD}"/>
          </ac:graphicFrameMkLst>
        </pc:graphicFrameChg>
      </pc:sldChg>
      <pc:sldChg chg="addSp delSp modSp mod">
        <pc:chgData name="Fredy Zapata" userId="fbf22290-4796-4a6d-8052-cec258ced68d" providerId="ADAL" clId="{78B633FB-FE9A-4F48-9602-34B7548094BD}" dt="2025-11-25T21:20:02.990" v="40" actId="20577"/>
        <pc:sldMkLst>
          <pc:docMk/>
          <pc:sldMk cId="2170181927" sldId="428"/>
        </pc:sldMkLst>
        <pc:spChg chg="mod">
          <ac:chgData name="Fredy Zapata" userId="fbf22290-4796-4a6d-8052-cec258ced68d" providerId="ADAL" clId="{78B633FB-FE9A-4F48-9602-34B7548094BD}" dt="2025-11-25T21:20:02.990" v="40" actId="20577"/>
          <ac:spMkLst>
            <pc:docMk/>
            <pc:sldMk cId="2170181927" sldId="428"/>
            <ac:spMk id="24" creationId="{80A25FFF-6A67-EE26-C6FC-D80B237036D8}"/>
          </ac:spMkLst>
        </pc:spChg>
        <pc:spChg chg="mod">
          <ac:chgData name="Fredy Zapata" userId="fbf22290-4796-4a6d-8052-cec258ced68d" providerId="ADAL" clId="{78B633FB-FE9A-4F48-9602-34B7548094BD}" dt="2025-11-21T12:02:01.798" v="1" actId="20577"/>
          <ac:spMkLst>
            <pc:docMk/>
            <pc:sldMk cId="2170181927" sldId="428"/>
            <ac:spMk id="53" creationId="{5B87D4EF-3E08-CB2D-1D97-612569E8CC4F}"/>
          </ac:spMkLst>
        </pc:spChg>
        <pc:graphicFrameChg chg="mod">
          <ac:chgData name="Fredy Zapata" userId="fbf22290-4796-4a6d-8052-cec258ced68d" providerId="ADAL" clId="{78B633FB-FE9A-4F48-9602-34B7548094BD}" dt="2025-11-21T12:04:10.812" v="12" actId="1076"/>
          <ac:graphicFrameMkLst>
            <pc:docMk/>
            <pc:sldMk cId="2170181927" sldId="428"/>
            <ac:graphicFrameMk id="6" creationId="{5D30204A-B81C-43F7-811C-B4ECAF9AD6CD}"/>
          </ac:graphicFrameMkLst>
        </pc:graphicFrameChg>
        <pc:graphicFrameChg chg="add mod">
          <ac:chgData name="Fredy Zapata" userId="fbf22290-4796-4a6d-8052-cec258ced68d" providerId="ADAL" clId="{78B633FB-FE9A-4F48-9602-34B7548094BD}" dt="2025-11-21T12:04:07.271" v="11" actId="1076"/>
          <ac:graphicFrameMkLst>
            <pc:docMk/>
            <pc:sldMk cId="2170181927" sldId="428"/>
            <ac:graphicFrameMk id="8" creationId="{D093F99E-9CAE-BA69-A95D-5633322A463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91D1FB-4A4E-063D-D051-BB6C49307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9A8453-2620-6889-4D53-2881FA84F4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64CBF4-2D78-799A-8631-633795748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883A-BEF5-40ED-B29E-5086B6C9E6EA}" type="datetimeFigureOut">
              <a:rPr lang="es-ES" smtClean="0"/>
              <a:t>25/11/2025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FB0B70-C4A2-EC38-59AE-8DBF1E5B3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9C72B3-5559-CEF8-31DD-E302417AA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DC014-FC3B-42D2-A1E4-7AD089DC80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4281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0D3E5E-EC88-B0E4-7B7E-2AE74FF4F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A168E0-70E7-01AF-E174-F0B18D218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39D96D-8E22-06BE-7AB3-4C6864ACB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883A-BEF5-40ED-B29E-5086B6C9E6EA}" type="datetimeFigureOut">
              <a:rPr lang="es-ES" smtClean="0"/>
              <a:t>25/11/2025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2E6A77-B551-E148-1DD8-FBD6B5268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0DC9FF-5174-A806-A026-A4B8786DE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DC014-FC3B-42D2-A1E4-7AD089DC80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0946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BA20C2-0921-F354-C79F-841E2BDD4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EE0E32C-3B2D-9A98-B6CA-B6556FF4D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A70F80-71A3-DA2C-C1BF-270DB25E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883A-BEF5-40ED-B29E-5086B6C9E6EA}" type="datetimeFigureOut">
              <a:rPr lang="es-ES" smtClean="0"/>
              <a:t>25/11/2025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B58824-C4C5-7C42-C689-B6A9962B1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99CE1C-9DC3-1D3A-F5A2-E1FBCB5BE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DC014-FC3B-42D2-A1E4-7AD089DC80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4875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F0D1C6-B865-817B-8978-CF39DCF02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047716-373A-408B-FD0E-69C6A061CC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4F1392F-3571-62B6-CE73-E08EBC550B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DBEABC0-8FEE-BCE0-4E30-D7E099E24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883A-BEF5-40ED-B29E-5086B6C9E6EA}" type="datetimeFigureOut">
              <a:rPr lang="es-ES" smtClean="0"/>
              <a:t>25/11/2025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1EB7D58-52BE-D4E8-371A-3CEF6C813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3967A6-3FFF-21B5-6190-71071B0D9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DC014-FC3B-42D2-A1E4-7AD089DC80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6758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4FC74B-01AD-19FC-9721-798608239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5CCDE7A-C3EB-DBA6-B114-D5A98F98F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FF69619-E76A-B6D0-E9F6-A47C9CF9F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7EA3EFB-67CF-452B-D49C-2AE8B8EE0D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7B1822B-D73D-0348-E9B0-F19C24B81D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DFB7719-C55D-CD18-3A16-23F756F1B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883A-BEF5-40ED-B29E-5086B6C9E6EA}" type="datetimeFigureOut">
              <a:rPr lang="es-ES" smtClean="0"/>
              <a:t>25/11/2025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A9399AB-87FF-39AE-D5BF-0B7B4967F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4E8E6EB-C3B5-53AE-8123-CA0BDA57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DC014-FC3B-42D2-A1E4-7AD089DC80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3050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6B06EC-E604-E3EF-1B18-F970B3A16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A07187D-F54B-BB90-F524-B57C497B1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883A-BEF5-40ED-B29E-5086B6C9E6EA}" type="datetimeFigureOut">
              <a:rPr lang="es-ES" smtClean="0"/>
              <a:t>25/11/2025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41D3476-E126-688B-AB6A-EA3376333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2049861-02A8-C318-083B-F029E0E5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DC014-FC3B-42D2-A1E4-7AD089DC80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6882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18E4707-81EB-7034-C3AB-621481028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883A-BEF5-40ED-B29E-5086B6C9E6EA}" type="datetimeFigureOut">
              <a:rPr lang="es-ES" smtClean="0"/>
              <a:t>25/11/2025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7725AB-EAAB-51AF-A727-3DF430546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CD029D-C484-D3C3-6D0F-E81F07AD1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DC014-FC3B-42D2-A1E4-7AD089DC80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2086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A69FFA-FFAF-60D8-B7C9-3AE41B9BD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3C07F2-0972-FCAB-B901-EE154AD49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261FF32-45DD-20C8-6DBA-60BFB63D1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FE16AEA-1230-2076-5737-8A866F5D7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883A-BEF5-40ED-B29E-5086B6C9E6EA}" type="datetimeFigureOut">
              <a:rPr lang="es-ES" smtClean="0"/>
              <a:t>25/11/2025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8FD7F1-D559-239D-BF96-4208461B7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1BE852E-BC49-23E2-2DE8-F27093330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DC014-FC3B-42D2-A1E4-7AD089DC80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1121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22D952-0C54-C2B8-5F2B-5F358A6C3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FA421EB-ABE4-C47F-9DCA-6C26105B93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D2BB72D-7644-6C5F-6CE7-8ED38ECDE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02D1AD-5757-E2F9-AEF0-06B0295B7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883A-BEF5-40ED-B29E-5086B6C9E6EA}" type="datetimeFigureOut">
              <a:rPr lang="es-ES" smtClean="0"/>
              <a:t>25/11/2025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22FFB95-F480-5603-8F20-67F941844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3DE0B2-4145-9440-57BB-237CA9B0A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DC014-FC3B-42D2-A1E4-7AD089DC80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7832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8EABB4-E02A-EADC-55AE-DDC027AE0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11D611F-0903-F1AD-14E0-10012E4AB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5E767D-D17A-F4AD-AD9B-6AC902CDD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883A-BEF5-40ED-B29E-5086B6C9E6EA}" type="datetimeFigureOut">
              <a:rPr lang="es-ES" smtClean="0"/>
              <a:t>25/11/2025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12D2B4-EF01-2A7C-4335-C1D354501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CF0917-105F-D404-2F21-673F3C613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DC014-FC3B-42D2-A1E4-7AD089DC80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7182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A697DD-0628-7477-DEB6-64CC6FEE7F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993E31D-70EE-1DEC-C27E-8FF47DBFD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23CFD2-E491-B14E-E7C6-431BF1E4B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883A-BEF5-40ED-B29E-5086B6C9E6EA}" type="datetimeFigureOut">
              <a:rPr lang="es-ES" smtClean="0"/>
              <a:t>25/11/2025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300BEE-2008-B3BC-A20E-C16BB2BA4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668E8C-D5C7-6978-BA19-DD70E0B56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DC014-FC3B-42D2-A1E4-7AD089DC80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4474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2730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595A297-8EAE-0687-EBF5-AB7636447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809233E-09D6-60C5-DD28-03EB53129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68D55B-7B93-1F64-D4FB-5E8003D8FB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5883A-BEF5-40ED-B29E-5086B6C9E6EA}" type="datetimeFigureOut">
              <a:rPr lang="es-ES" smtClean="0"/>
              <a:t>25/11/2025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D63731-2797-FD04-20FD-3397135CC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BFB58D-2D58-8FDB-DE2B-957642D41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DC014-FC3B-42D2-A1E4-7AD089DC80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1220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openxmlformats.org/officeDocument/2006/relationships/image" Target="../media/image15.emf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17" Type="http://schemas.openxmlformats.org/officeDocument/2006/relationships/package" Target="../embeddings/Microsoft_Excel_Worksheet.xlsx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20" Type="http://schemas.openxmlformats.org/officeDocument/2006/relationships/image" Target="../media/image16.e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microsoft.com/office/2007/relationships/hdphoto" Target="../media/hdphoto1.wdp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10" Type="http://schemas.openxmlformats.org/officeDocument/2006/relationships/image" Target="../media/image9.png"/><Relationship Id="rId19" Type="http://schemas.openxmlformats.org/officeDocument/2006/relationships/oleObject" Target="../embeddings/oleObject1.bin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7ADABDA-8213-0986-A200-5FF87B6524E8}"/>
              </a:ext>
            </a:extLst>
          </p:cNvPr>
          <p:cNvSpPr txBox="1"/>
          <p:nvPr/>
        </p:nvSpPr>
        <p:spPr>
          <a:xfrm>
            <a:off x="4151279" y="-30777"/>
            <a:ext cx="3889443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000" b="1" i="0" u="none" strike="noStrike" kern="1200" cap="none" spc="0" normalizeH="0" baseline="0" noProof="0" dirty="0">
                <a:ln>
                  <a:noFill/>
                </a:ln>
                <a:solidFill>
                  <a:srgbClr val="212652"/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Ficha técnica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65C6F7A-8C2C-E71A-6396-4D8D50AF325E}"/>
              </a:ext>
            </a:extLst>
          </p:cNvPr>
          <p:cNvSpPr txBox="1"/>
          <p:nvPr/>
        </p:nvSpPr>
        <p:spPr>
          <a:xfrm>
            <a:off x="866768" y="1410094"/>
            <a:ext cx="3798213" cy="8156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s-CO" sz="1400" b="1" dirty="0">
                <a:solidFill>
                  <a:srgbClr val="212652"/>
                </a:solidFill>
                <a:latin typeface="Segoe IU"/>
                <a:cs typeface="Helvetica" panose="020B0604020202020204" pitchFamily="34" charset="0"/>
              </a:rPr>
              <a:t>Grupo objetivo:</a:t>
            </a:r>
            <a:endParaRPr kumimoji="0" lang="es-CO" sz="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IU"/>
              <a:ea typeface="+mn-ea"/>
              <a:cs typeface="Helvetica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Hombres y mujeres de 18 años en adelante, de todos los niveles socio económicos a nivel nacional, con cubrimiento urbano y rural.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0A25FFF-6A67-EE26-C6FC-D80B237036D8}"/>
              </a:ext>
            </a:extLst>
          </p:cNvPr>
          <p:cNvSpPr txBox="1"/>
          <p:nvPr/>
        </p:nvSpPr>
        <p:spPr>
          <a:xfrm>
            <a:off x="866768" y="2382405"/>
            <a:ext cx="3798212" cy="256993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400" b="1" dirty="0">
                <a:solidFill>
                  <a:srgbClr val="212652"/>
                </a:solidFill>
                <a:latin typeface="Segoe IU"/>
                <a:cs typeface="Helvetica" panose="020B0604020202020204" pitchFamily="34" charset="0"/>
              </a:rPr>
              <a:t>Marco muestral:</a:t>
            </a:r>
            <a:endParaRPr kumimoji="0" lang="es-ES" sz="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IU"/>
              <a:ea typeface="+mn-ea"/>
              <a:cs typeface="Helvetica" panose="020B0604020202020204" pitchFamily="34" charset="0"/>
            </a:endParaRP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En la primera </a:t>
            </a:r>
            <a:r>
              <a:rPr lang="es-E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IU"/>
                <a:cs typeface="Helvetica" panose="020B0604020202020204" pitchFamily="34" charset="0"/>
              </a:rPr>
              <a:t>etapa</a:t>
            </a:r>
            <a:r>
              <a:rPr kumimoji="0" lang="es-ES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:</a:t>
            </a: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 proyecciones de población con la actualización post COVID 19 del DANE al año 2025 discriminado por municipios y zona(urbano/rural).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En la segunda etapa: </a:t>
            </a:r>
          </a:p>
          <a:p>
            <a:pPr marL="396000" indent="-171450" algn="just">
              <a:buFontTx/>
              <a:buChar char="-"/>
              <a:defRPr/>
            </a:pP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Manzanas: Planimetría urbana de cada una de las poblaciones seleccionadas basada en el Marco Geoestadístico Nacional del DANE e integrado a otras fuentes de información cartográfica.</a:t>
            </a:r>
          </a:p>
          <a:p>
            <a:pPr marL="396000" indent="-171450" algn="just">
              <a:buFontTx/>
              <a:buChar char="-"/>
              <a:defRPr/>
            </a:pP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Veredas: </a:t>
            </a:r>
            <a:r>
              <a:rPr kumimoji="0" lang="es-ES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Geovisor</a:t>
            </a: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 de Consulta de Nivel de Referencia de Veredas de la página oficial del DANE.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En la tercera etapa: </a:t>
            </a: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viviendas de las manzanas y veredas seleccionadas en cada población.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En la cuarta etapa: </a:t>
            </a: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personas mayores de 18 años o más, residentes en cada vivienda.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1C02BD9-D87C-F8BA-0188-3FD51144084D}"/>
              </a:ext>
            </a:extLst>
          </p:cNvPr>
          <p:cNvSpPr txBox="1"/>
          <p:nvPr/>
        </p:nvSpPr>
        <p:spPr>
          <a:xfrm>
            <a:off x="5657414" y="615116"/>
            <a:ext cx="6277411" cy="18312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s-CO" sz="1400" b="1" dirty="0">
                <a:solidFill>
                  <a:srgbClr val="212652"/>
                </a:solidFill>
                <a:latin typeface="Segoe IU"/>
                <a:cs typeface="Helvetica" panose="020B0604020202020204" pitchFamily="34" charset="0"/>
              </a:rPr>
              <a:t>Método de muestreo:</a:t>
            </a:r>
            <a:endParaRPr kumimoji="0" lang="es-CO" sz="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IU"/>
              <a:ea typeface="+mn-ea"/>
              <a:cs typeface="Helvetica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Se realizó un muestreo por etapas así: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Primera etapa: </a:t>
            </a: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Selección aleatoria sistemática de 107 puntos muestrales a nivel nacional, con ordenamiento por región y tamaño poblacional del municipio.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Segunda etapa: </a:t>
            </a: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Selección de manzanas o veredas de la siguiente forma: </a:t>
            </a:r>
          </a:p>
          <a:p>
            <a:pPr marL="32400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Manzanas: selección aleatoria sistemática de 4 manzanas por punto muestral con ordenamiento por nivel socio económico. </a:t>
            </a:r>
          </a:p>
          <a:p>
            <a:pPr marL="32400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Veredas: selección aleatoria simple de las veredas.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Tercera etapa: </a:t>
            </a: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Selección aleatoria sistemática de cuatro viviendas por manzana.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Cuarta etapa: </a:t>
            </a: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selección aleatoria simple de una persona de 18 años o más residente en la vivienda.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335F1A3A-D8A5-F2C8-4690-B3DDCE0D43D6}"/>
              </a:ext>
            </a:extLst>
          </p:cNvPr>
          <p:cNvSpPr txBox="1"/>
          <p:nvPr/>
        </p:nvSpPr>
        <p:spPr>
          <a:xfrm>
            <a:off x="866767" y="5180767"/>
            <a:ext cx="3798211" cy="10002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s-CO" sz="1400" b="1" dirty="0">
                <a:solidFill>
                  <a:srgbClr val="212652"/>
                </a:solidFill>
                <a:latin typeface="Segoe IU"/>
                <a:cs typeface="Helvetica" panose="020B0604020202020204" pitchFamily="34" charset="0"/>
              </a:rPr>
              <a:t>Método recolección de información:</a:t>
            </a:r>
            <a:endParaRPr kumimoji="0" lang="es-ES" sz="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IU"/>
              <a:ea typeface="+mn-ea"/>
              <a:cs typeface="Helvetica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Encuestas personales a través de dispositivos móviles (</a:t>
            </a:r>
            <a:r>
              <a:rPr kumimoji="0" lang="es-ES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Tablets</a:t>
            </a: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) directamente en los hogares de las personas.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" dirty="0">
              <a:latin typeface="Segoe IU"/>
              <a:cs typeface="Helvetica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Se revisó el 100% de las encuestas realizadas y se supervisó el 10% de las encuestas realizadas.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C0E05E80-BB65-E8B2-D270-1B3C7EBAD40A}"/>
              </a:ext>
            </a:extLst>
          </p:cNvPr>
          <p:cNvSpPr txBox="1"/>
          <p:nvPr/>
        </p:nvSpPr>
        <p:spPr>
          <a:xfrm>
            <a:off x="5657415" y="3086423"/>
            <a:ext cx="2876986" cy="8156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s-ES" sz="1400" b="1" dirty="0">
                <a:solidFill>
                  <a:srgbClr val="212652"/>
                </a:solidFill>
                <a:latin typeface="Segoe IU"/>
                <a:cs typeface="Helvetica" panose="020B0604020202020204" pitchFamily="34" charset="0"/>
              </a:rPr>
              <a:t>Tasa de respuesta:</a:t>
            </a:r>
            <a:endParaRPr kumimoji="0" lang="es-CO" sz="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IU"/>
              <a:ea typeface="+mn-ea"/>
              <a:cs typeface="Helvetica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Segoe IU"/>
                <a:cs typeface="Helvetica" panose="020B0604020202020204" pitchFamily="34" charset="0"/>
              </a:rPr>
              <a:t>21.60</a:t>
            </a: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% Se calculó con el número de encuestas efectivas sobre el número de casos contactados de la muestra.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7514E31E-DB34-9182-593B-4DD5A67FD9B1}"/>
              </a:ext>
            </a:extLst>
          </p:cNvPr>
          <p:cNvSpPr txBox="1"/>
          <p:nvPr/>
        </p:nvSpPr>
        <p:spPr>
          <a:xfrm>
            <a:off x="9314182" y="3744260"/>
            <a:ext cx="2480739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s-CO" sz="1400" b="1" dirty="0">
                <a:solidFill>
                  <a:srgbClr val="212652"/>
                </a:solidFill>
                <a:latin typeface="Segoe IU"/>
                <a:cs typeface="Helvetica" panose="020B0604020202020204" pitchFamily="34" charset="0"/>
              </a:rPr>
              <a:t>Subcontratación:</a:t>
            </a:r>
            <a:endParaRPr kumimoji="0" lang="es-CO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IU"/>
              <a:ea typeface="+mn-ea"/>
              <a:cs typeface="Helvetica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Para este estudio Invamer no contrató servicios de su red externa todo el proceso lo realizó con personal contratado de forma directa.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1F95F741-984D-AA60-AC0F-9AA0457FFE84}"/>
              </a:ext>
            </a:extLst>
          </p:cNvPr>
          <p:cNvSpPr txBox="1"/>
          <p:nvPr/>
        </p:nvSpPr>
        <p:spPr>
          <a:xfrm>
            <a:off x="5657415" y="4645353"/>
            <a:ext cx="2876986" cy="7925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s-ES" sz="1400" b="1" dirty="0">
                <a:solidFill>
                  <a:srgbClr val="212652"/>
                </a:solidFill>
                <a:latin typeface="Segoe IU"/>
                <a:cs typeface="Helvetica" panose="020B0604020202020204" pitchFamily="34" charset="0"/>
              </a:rPr>
              <a:t>Trabajo de campo:</a:t>
            </a:r>
            <a:endParaRPr kumimoji="0" lang="es-CO" sz="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IU"/>
              <a:ea typeface="+mn-ea"/>
              <a:cs typeface="Helvetica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La recolección de la información se llevó a cabo entre el 28 de octubre y el 15 de noviembre de 2025.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5B87D4EF-3E08-CB2D-1D97-612569E8CC4F}"/>
              </a:ext>
            </a:extLst>
          </p:cNvPr>
          <p:cNvSpPr txBox="1"/>
          <p:nvPr/>
        </p:nvSpPr>
        <p:spPr>
          <a:xfrm>
            <a:off x="9314180" y="4649379"/>
            <a:ext cx="2620643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s-CO" sz="1400" b="1" dirty="0">
                <a:solidFill>
                  <a:srgbClr val="212652"/>
                </a:solidFill>
                <a:latin typeface="Segoe IU"/>
                <a:cs typeface="Helvetica" panose="020B0604020202020204" pitchFamily="34" charset="0"/>
              </a:rPr>
              <a:t>Anexos: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100" b="1" i="0" u="none" strike="noStrike" kern="1200" cap="none" spc="0" normalizeH="0" baseline="0" noProof="0" dirty="0">
              <a:ln>
                <a:noFill/>
              </a:ln>
              <a:solidFill>
                <a:srgbClr val="373535"/>
              </a:solidFill>
              <a:effectLst/>
              <a:uLnTx/>
              <a:uFillTx/>
              <a:latin typeface="Segoe IU"/>
              <a:ea typeface="+mn-ea"/>
              <a:cs typeface="Helvetica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100" b="1" i="0" u="none" strike="noStrike" kern="1200" cap="none" spc="0" normalizeH="0" baseline="0" noProof="0" dirty="0">
              <a:ln>
                <a:noFill/>
              </a:ln>
              <a:solidFill>
                <a:srgbClr val="373535"/>
              </a:solidFill>
              <a:effectLst/>
              <a:uLnTx/>
              <a:uFillTx/>
              <a:latin typeface="Segoe IU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65" name="63 CuadroTexto">
            <a:extLst>
              <a:ext uri="{FF2B5EF4-FFF2-40B4-BE49-F238E27FC236}">
                <a16:creationId xmlns:a16="http://schemas.microsoft.com/office/drawing/2014/main" id="{F58083A1-DF09-FB0A-50B3-AFF2EA04D8EE}"/>
              </a:ext>
            </a:extLst>
          </p:cNvPr>
          <p:cNvSpPr txBox="1"/>
          <p:nvPr/>
        </p:nvSpPr>
        <p:spPr>
          <a:xfrm>
            <a:off x="2441575" y="6582080"/>
            <a:ext cx="7308850" cy="24198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0" i="1" u="none" strike="noStrike" kern="1200" cap="none" spc="0" normalizeH="0" baseline="0" noProof="0" dirty="0">
                <a:ln>
                  <a:noFill/>
                </a:ln>
                <a:solidFill>
                  <a:srgbClr val="102335"/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El estudio se realizó en cumplimiento a la norma ISO 20252 versión 2019 Investigación de mercados social y de opinión.</a:t>
            </a:r>
          </a:p>
        </p:txBody>
      </p:sp>
      <p:pic>
        <p:nvPicPr>
          <p:cNvPr id="1028" name="Picture 4" descr="EAFIT - Transferencia de tecnología y conocimiento EAFIT">
            <a:extLst>
              <a:ext uri="{FF2B5EF4-FFF2-40B4-BE49-F238E27FC236}">
                <a16:creationId xmlns:a16="http://schemas.microsoft.com/office/drawing/2014/main" id="{F7FDB4D5-7CC4-540C-84DC-3A7720F12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383" y="121385"/>
            <a:ext cx="1160589" cy="38791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CuadroTexto 44">
            <a:extLst>
              <a:ext uri="{FF2B5EF4-FFF2-40B4-BE49-F238E27FC236}">
                <a16:creationId xmlns:a16="http://schemas.microsoft.com/office/drawing/2014/main" id="{4648197C-CD88-A750-B5B9-D9D485F8F65F}"/>
              </a:ext>
            </a:extLst>
          </p:cNvPr>
          <p:cNvSpPr txBox="1"/>
          <p:nvPr/>
        </p:nvSpPr>
        <p:spPr>
          <a:xfrm>
            <a:off x="1774825" y="6347104"/>
            <a:ext cx="8642350" cy="260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CO" sz="1100" i="1" dirty="0">
                <a:solidFill>
                  <a:srgbClr val="102335"/>
                </a:solidFill>
                <a:latin typeface="Segoe IU"/>
                <a:cs typeface="Helvetica" panose="020B0604020202020204" pitchFamily="34" charset="0"/>
              </a:rPr>
              <a:t>Estudio regulado por la ley 2494 de 2025: Sus análisis podrán ser publicados en medios de comunicación únicamente por total.</a:t>
            </a:r>
            <a:endParaRPr lang="es-ES" sz="1100" i="1" dirty="0">
              <a:solidFill>
                <a:srgbClr val="102335"/>
              </a:solidFill>
              <a:latin typeface="Segoe IU"/>
              <a:cs typeface="Helvetica" panose="020B0604020202020204" pitchFamily="34" charset="0"/>
            </a:endParaRP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5EC745E8-00D1-1A7D-253A-7236DC0C5F37}"/>
              </a:ext>
            </a:extLst>
          </p:cNvPr>
          <p:cNvSpPr txBox="1"/>
          <p:nvPr/>
        </p:nvSpPr>
        <p:spPr>
          <a:xfrm>
            <a:off x="5657415" y="3876785"/>
            <a:ext cx="2876986" cy="7925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s-CO" sz="1400" b="1" dirty="0">
                <a:solidFill>
                  <a:srgbClr val="212652"/>
                </a:solidFill>
                <a:latin typeface="Segoe IU"/>
                <a:cs typeface="Helvetica" panose="020B0604020202020204" pitchFamily="34" charset="0"/>
              </a:rPr>
              <a:t>Margen de error:</a:t>
            </a:r>
            <a:endParaRPr kumimoji="0" lang="es-CO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IU"/>
              <a:ea typeface="+mn-ea"/>
              <a:cs typeface="Helvetica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Para el total de encuestas el margen de error fue de ± 2.76% con un nivel de confianza del 95%.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0D302745-645F-58EA-4BC0-7D632DB9089A}"/>
              </a:ext>
            </a:extLst>
          </p:cNvPr>
          <p:cNvSpPr txBox="1"/>
          <p:nvPr/>
        </p:nvSpPr>
        <p:spPr>
          <a:xfrm>
            <a:off x="5657414" y="2313255"/>
            <a:ext cx="6277411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400" b="1" dirty="0">
                <a:solidFill>
                  <a:srgbClr val="212652"/>
                </a:solidFill>
                <a:latin typeface="Segoe IU"/>
                <a:cs typeface="Helvetica" panose="020B0604020202020204" pitchFamily="34" charset="0"/>
              </a:rPr>
              <a:t>Nombre de profesionales en estadística:</a:t>
            </a:r>
            <a:r>
              <a:rPr lang="es-MX" sz="1200" b="1" dirty="0">
                <a:solidFill>
                  <a:srgbClr val="1F5485"/>
                </a:solidFill>
                <a:latin typeface="Segoe IU"/>
                <a:cs typeface="Helvetica" panose="020B0604020202020204" pitchFamily="34" charset="0"/>
              </a:rPr>
              <a:t> </a:t>
            </a:r>
          </a:p>
          <a:p>
            <a:pPr algn="just"/>
            <a:r>
              <a:rPr lang="es-E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Segoe IU"/>
                <a:cs typeface="Helvetica" panose="020B0604020202020204" pitchFamily="34" charset="0"/>
              </a:rPr>
              <a:t>En Invamer, el estudio fue desarrollado por un equipo multidisciplinario, dentro del cual se encuentran los profesionales del área de estadística William Alexander Aguirre Antolinez y Laura Camila Agudelo, quienes aportaron su experiencia técnica y rigurosidad metodológica al proceso.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464C1230-A36D-6E82-7315-AD4152D810A6}"/>
              </a:ext>
            </a:extLst>
          </p:cNvPr>
          <p:cNvSpPr txBox="1"/>
          <p:nvPr/>
        </p:nvSpPr>
        <p:spPr>
          <a:xfrm>
            <a:off x="866768" y="651405"/>
            <a:ext cx="3798212" cy="63094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s-CO" sz="1400" b="1" dirty="0">
                <a:solidFill>
                  <a:srgbClr val="212652"/>
                </a:solidFill>
                <a:latin typeface="Segoe IU"/>
                <a:cs typeface="Helvetica" panose="020B0604020202020204" pitchFamily="34" charset="0"/>
              </a:rPr>
              <a:t>Objetivo general:</a:t>
            </a:r>
            <a:endParaRPr kumimoji="0" lang="es-CO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IU"/>
              <a:ea typeface="+mn-ea"/>
              <a:cs typeface="Helvetica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Segoe IU"/>
                <a:cs typeface="Helvetica" panose="020B0604020202020204" pitchFamily="34" charset="0"/>
              </a:rPr>
              <a:t>Medir la opinión en temas generales, políticos y de actualidad.</a:t>
            </a:r>
            <a:endParaRPr lang="es-CO" sz="1050" dirty="0">
              <a:solidFill>
                <a:schemeClr val="tx1">
                  <a:lumMod val="75000"/>
                  <a:lumOff val="25000"/>
                </a:schemeClr>
              </a:solidFill>
              <a:latin typeface="Segoe IU"/>
              <a:cs typeface="Helvetica" panose="020B0604020202020204" pitchFamily="34" charset="0"/>
            </a:endParaRPr>
          </a:p>
        </p:txBody>
      </p:sp>
      <p:pic>
        <p:nvPicPr>
          <p:cNvPr id="66" name="Imagen 65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B8D3D63C-1CA8-E31A-F5F9-555C74BAAB9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1829" y="48330"/>
            <a:ext cx="1095926" cy="564501"/>
          </a:xfrm>
          <a:prstGeom prst="rect">
            <a:avLst/>
          </a:prstGeom>
        </p:spPr>
      </p:pic>
      <p:pic>
        <p:nvPicPr>
          <p:cNvPr id="72" name="Imagen 71" descr="Forma&#10;&#10;Descripción generada automáticamente con confianza baja">
            <a:extLst>
              <a:ext uri="{FF2B5EF4-FFF2-40B4-BE49-F238E27FC236}">
                <a16:creationId xmlns:a16="http://schemas.microsoft.com/office/drawing/2014/main" id="{48E9E6DB-E0D7-89F7-24AA-FE0974EF2AE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01" y="5373378"/>
            <a:ext cx="579748" cy="579748"/>
          </a:xfrm>
          <a:prstGeom prst="rect">
            <a:avLst/>
          </a:prstGeom>
        </p:spPr>
      </p:pic>
      <p:pic>
        <p:nvPicPr>
          <p:cNvPr id="74" name="Imagen 73" descr="Forma&#10;&#10;Descripción generada automáticamente con confianza baja">
            <a:extLst>
              <a:ext uri="{FF2B5EF4-FFF2-40B4-BE49-F238E27FC236}">
                <a16:creationId xmlns:a16="http://schemas.microsoft.com/office/drawing/2014/main" id="{BA5F5018-EC98-7416-30BF-C69375F59AC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893" y="2546447"/>
            <a:ext cx="598801" cy="598801"/>
          </a:xfrm>
          <a:prstGeom prst="rect">
            <a:avLst/>
          </a:prstGeom>
        </p:spPr>
      </p:pic>
      <p:pic>
        <p:nvPicPr>
          <p:cNvPr id="82" name="Imagen 81" descr="Icono&#10;&#10;Descripción generada automáticamente">
            <a:extLst>
              <a:ext uri="{FF2B5EF4-FFF2-40B4-BE49-F238E27FC236}">
                <a16:creationId xmlns:a16="http://schemas.microsoft.com/office/drawing/2014/main" id="{A92B8E76-EA04-0111-0707-024AA641759B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505" y="4751853"/>
            <a:ext cx="475289" cy="475289"/>
          </a:xfrm>
          <a:prstGeom prst="rect">
            <a:avLst/>
          </a:prstGeom>
        </p:spPr>
      </p:pic>
      <p:pic>
        <p:nvPicPr>
          <p:cNvPr id="84" name="Imagen 83" descr="Icono&#10;&#10;Descripción generada automáticamente">
            <a:extLst>
              <a:ext uri="{FF2B5EF4-FFF2-40B4-BE49-F238E27FC236}">
                <a16:creationId xmlns:a16="http://schemas.microsoft.com/office/drawing/2014/main" id="{6896A855-1BD8-9173-F294-9725769285AF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791" y="4008637"/>
            <a:ext cx="570716" cy="570716"/>
          </a:xfrm>
          <a:prstGeom prst="rect">
            <a:avLst/>
          </a:prstGeom>
        </p:spPr>
      </p:pic>
      <p:pic>
        <p:nvPicPr>
          <p:cNvPr id="86" name="Imagen 85" descr="Un letrero de color negro&#10;&#10;Descripción generada automáticamente con confianza media">
            <a:extLst>
              <a:ext uri="{FF2B5EF4-FFF2-40B4-BE49-F238E27FC236}">
                <a16:creationId xmlns:a16="http://schemas.microsoft.com/office/drawing/2014/main" id="{5AE1D425-CA62-389A-DA47-B1B75C413B59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2811" y="4790271"/>
            <a:ext cx="518435" cy="518435"/>
          </a:xfrm>
          <a:prstGeom prst="rect">
            <a:avLst/>
          </a:prstGeom>
        </p:spPr>
      </p:pic>
      <p:pic>
        <p:nvPicPr>
          <p:cNvPr id="88" name="Imagen 87" descr="Texto, Icono&#10;&#10;Descripción generada automáticamente">
            <a:extLst>
              <a:ext uri="{FF2B5EF4-FFF2-40B4-BE49-F238E27FC236}">
                <a16:creationId xmlns:a16="http://schemas.microsoft.com/office/drawing/2014/main" id="{C4E8879B-8604-1A54-EE0A-99959A0FCB96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1281" y="3982501"/>
            <a:ext cx="481495" cy="481495"/>
          </a:xfrm>
          <a:prstGeom prst="rect">
            <a:avLst/>
          </a:prstGeom>
        </p:spPr>
      </p:pic>
      <p:pic>
        <p:nvPicPr>
          <p:cNvPr id="92" name="Imagen 91" descr="Icono&#10;&#10;Descripción generada automáticamente">
            <a:extLst>
              <a:ext uri="{FF2B5EF4-FFF2-40B4-BE49-F238E27FC236}">
                <a16:creationId xmlns:a16="http://schemas.microsoft.com/office/drawing/2014/main" id="{0C24C526-92B5-9143-2833-A791D37F6B66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327" y="3160553"/>
            <a:ext cx="493645" cy="493645"/>
          </a:xfrm>
          <a:prstGeom prst="rect">
            <a:avLst/>
          </a:prstGeom>
        </p:spPr>
      </p:pic>
      <p:pic>
        <p:nvPicPr>
          <p:cNvPr id="94" name="Imagen 93" descr="Icono&#10;&#10;Descripción generada automáticamente">
            <a:extLst>
              <a:ext uri="{FF2B5EF4-FFF2-40B4-BE49-F238E27FC236}">
                <a16:creationId xmlns:a16="http://schemas.microsoft.com/office/drawing/2014/main" id="{A8308445-8DD9-86F9-DC5B-C157163A714A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925" y="756188"/>
            <a:ext cx="525100" cy="525100"/>
          </a:xfrm>
          <a:prstGeom prst="rect">
            <a:avLst/>
          </a:prstGeom>
        </p:spPr>
      </p:pic>
      <p:pic>
        <p:nvPicPr>
          <p:cNvPr id="96" name="Imagen 95" descr="Forma&#10;&#10;Descripción generada automáticamente con confianza baja">
            <a:extLst>
              <a:ext uri="{FF2B5EF4-FFF2-40B4-BE49-F238E27FC236}">
                <a16:creationId xmlns:a16="http://schemas.microsoft.com/office/drawing/2014/main" id="{7B61741A-9806-9BF6-479D-A90CD523DF5F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9361" y="2482219"/>
            <a:ext cx="515524" cy="515524"/>
          </a:xfrm>
          <a:prstGeom prst="rect">
            <a:avLst/>
          </a:prstGeom>
        </p:spPr>
      </p:pic>
      <p:pic>
        <p:nvPicPr>
          <p:cNvPr id="98" name="Imagen 97" descr="Icono&#10;&#10;Descripción generada automáticamente">
            <a:extLst>
              <a:ext uri="{FF2B5EF4-FFF2-40B4-BE49-F238E27FC236}">
                <a16:creationId xmlns:a16="http://schemas.microsoft.com/office/drawing/2014/main" id="{DE6F50A2-7B38-DDFE-7733-C5D3E64380CF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10" y="1497981"/>
            <a:ext cx="603105" cy="603105"/>
          </a:xfrm>
          <a:prstGeom prst="rect">
            <a:avLst/>
          </a:prstGeom>
        </p:spPr>
      </p:pic>
      <p:pic>
        <p:nvPicPr>
          <p:cNvPr id="100" name="Imagen 99" descr="Forma&#10;&#10;Descripción generada automáticamente con confianza baja">
            <a:extLst>
              <a:ext uri="{FF2B5EF4-FFF2-40B4-BE49-F238E27FC236}">
                <a16:creationId xmlns:a16="http://schemas.microsoft.com/office/drawing/2014/main" id="{4E9A349A-5A67-9FC8-EE78-1434F2112977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01" y="655950"/>
            <a:ext cx="586158" cy="58615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7A1336A-B2E7-B2F3-CA3F-D547B9EAB1A0}"/>
              </a:ext>
            </a:extLst>
          </p:cNvPr>
          <p:cNvSpPr txBox="1"/>
          <p:nvPr/>
        </p:nvSpPr>
        <p:spPr>
          <a:xfrm>
            <a:off x="9314182" y="3086423"/>
            <a:ext cx="2499750" cy="63094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s-CO" sz="1400" b="1" dirty="0">
                <a:solidFill>
                  <a:srgbClr val="212652"/>
                </a:solidFill>
                <a:latin typeface="Segoe IU"/>
                <a:cs typeface="Helvetica" panose="020B0604020202020204" pitchFamily="34" charset="0"/>
              </a:rPr>
              <a:t>Número de encuestadores:</a:t>
            </a:r>
            <a:endParaRPr kumimoji="0" lang="es-CO" sz="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IU"/>
              <a:ea typeface="+mn-ea"/>
              <a:cs typeface="Helvetica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En el estudio participaron 100 encuestadores.</a:t>
            </a:r>
          </a:p>
        </p:txBody>
      </p:sp>
      <p:pic>
        <p:nvPicPr>
          <p:cNvPr id="4" name="Imagen 3" descr="Forma&#10;&#10;Descripción generada automáticamente con confianza baja">
            <a:extLst>
              <a:ext uri="{FF2B5EF4-FFF2-40B4-BE49-F238E27FC236}">
                <a16:creationId xmlns:a16="http://schemas.microsoft.com/office/drawing/2014/main" id="{C11A0942-C35A-04F6-0EEE-4B03682E95EF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8731" y="3160553"/>
            <a:ext cx="486594" cy="48659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0967D1D-F24E-22AC-2776-4F98ABBF8685}"/>
              </a:ext>
            </a:extLst>
          </p:cNvPr>
          <p:cNvSpPr txBox="1"/>
          <p:nvPr/>
        </p:nvSpPr>
        <p:spPr>
          <a:xfrm>
            <a:off x="5657415" y="5393432"/>
            <a:ext cx="5247019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s-CO" sz="1400" b="1" dirty="0">
                <a:solidFill>
                  <a:srgbClr val="212652"/>
                </a:solidFill>
                <a:latin typeface="Segoe IU"/>
                <a:cs typeface="Helvetica" panose="020B0604020202020204" pitchFamily="34" charset="0"/>
              </a:rPr>
              <a:t>Fuente de financiación: </a:t>
            </a:r>
            <a:r>
              <a:rPr lang="es-CO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Segoe IU"/>
                <a:cs typeface="Helvetica" panose="020B0604020202020204" pitchFamily="34" charset="0"/>
              </a:rPr>
              <a:t>EAFIT</a:t>
            </a:r>
          </a:p>
          <a:p>
            <a:pPr algn="just">
              <a:defRPr/>
            </a:pPr>
            <a:r>
              <a:rPr kumimoji="0" lang="es-CO" sz="1400" b="1" i="0" u="none" strike="noStrike" kern="1200" cap="none" spc="0" normalizeH="0" baseline="0" noProof="0" dirty="0">
                <a:ln>
                  <a:noFill/>
                </a:ln>
                <a:solidFill>
                  <a:srgbClr val="212652"/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Preguntas que se formularon: </a:t>
            </a:r>
            <a:r>
              <a:rPr lang="es-CO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Segoe IU"/>
                <a:cs typeface="Helvetica" panose="020B0604020202020204" pitchFamily="34" charset="0"/>
              </a:rPr>
              <a:t>Remitirse al cuestionario.</a:t>
            </a:r>
          </a:p>
          <a:p>
            <a:pPr algn="just">
              <a:defRPr/>
            </a:pPr>
            <a:r>
              <a:rPr lang="es-CO" sz="1400" b="1" dirty="0">
                <a:solidFill>
                  <a:srgbClr val="212652"/>
                </a:solidFill>
                <a:latin typeface="Segoe IU"/>
                <a:cs typeface="Helvetica" panose="020B0604020202020204" pitchFamily="34" charset="0"/>
              </a:rPr>
              <a:t>Temas a los que se refiere: </a:t>
            </a:r>
            <a:r>
              <a:rPr lang="es-CO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Segoe IU"/>
                <a:cs typeface="Helvetica" panose="020B0604020202020204" pitchFamily="34" charset="0"/>
              </a:rPr>
              <a:t>Remitirse al cuestionario.</a:t>
            </a:r>
            <a:endParaRPr lang="es-CO" sz="1050" b="1" dirty="0">
              <a:solidFill>
                <a:srgbClr val="212652"/>
              </a:solidFill>
              <a:latin typeface="Segoe IU"/>
              <a:cs typeface="Helvetica" panose="020B0604020202020204" pitchFamily="34" charset="0"/>
            </a:endParaRPr>
          </a:p>
          <a:p>
            <a:pPr algn="just">
              <a:defRPr/>
            </a:pPr>
            <a:r>
              <a:rPr lang="es-CO" sz="1400" b="1" dirty="0">
                <a:solidFill>
                  <a:srgbClr val="212652"/>
                </a:solidFill>
                <a:latin typeface="Segoe IU"/>
                <a:cs typeface="Helvetica" panose="020B0604020202020204" pitchFamily="34" charset="0"/>
              </a:rPr>
              <a:t>Personajes o instituciones por las cuales se indagó: </a:t>
            </a:r>
            <a:r>
              <a:rPr lang="es-CO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Segoe IU"/>
                <a:cs typeface="Helvetica" panose="020B0604020202020204" pitchFamily="34" charset="0"/>
              </a:rPr>
              <a:t>N/A</a:t>
            </a:r>
          </a:p>
        </p:txBody>
      </p:sp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5D30204A-B81C-43F7-811C-B4ECAF9AD6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500438"/>
              </p:ext>
            </p:extLst>
          </p:nvPr>
        </p:nvGraphicFramePr>
        <p:xfrm>
          <a:off x="10995838" y="4789695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17" imgW="914357" imgH="771396" progId="Excel.Sheet.12">
                  <p:embed/>
                </p:oleObj>
              </mc:Choice>
              <mc:Fallback>
                <p:oleObj name="Worksheet" showAsIcon="1" r:id="rId17" imgW="914357" imgH="771396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5D30204A-B81C-43F7-811C-B4ECAF9AD6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995838" y="4789695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o 7">
            <a:extLst>
              <a:ext uri="{FF2B5EF4-FFF2-40B4-BE49-F238E27FC236}">
                <a16:creationId xmlns:a16="http://schemas.microsoft.com/office/drawing/2014/main" id="{D093F99E-9CAE-BA69-A95D-5633322A46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0373153"/>
              </p:ext>
            </p:extLst>
          </p:nvPr>
        </p:nvGraphicFramePr>
        <p:xfrm>
          <a:off x="10135382" y="4800091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showAsIcon="1" r:id="rId19" imgW="914357" imgH="771396" progId="Acrobat.Document.DC">
                  <p:embed/>
                </p:oleObj>
              </mc:Choice>
              <mc:Fallback>
                <p:oleObj name="Acrobat Document" showAsIcon="1" r:id="rId19" imgW="914357" imgH="771396" progId="Acrobat.Document.DC">
                  <p:embed/>
                  <p:pic>
                    <p:nvPicPr>
                      <p:cNvPr id="8" name="Objeto 7">
                        <a:extLst>
                          <a:ext uri="{FF2B5EF4-FFF2-40B4-BE49-F238E27FC236}">
                            <a16:creationId xmlns:a16="http://schemas.microsoft.com/office/drawing/2014/main" id="{D093F99E-9CAE-BA69-A95D-5633322A46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0135382" y="4800091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0181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D16EBA2-49E1-5450-3FB6-D29FBF9E5491}"/>
              </a:ext>
            </a:extLst>
          </p:cNvPr>
          <p:cNvSpPr txBox="1"/>
          <p:nvPr/>
        </p:nvSpPr>
        <p:spPr>
          <a:xfrm>
            <a:off x="1067969" y="836340"/>
            <a:ext cx="6947586" cy="46935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400" b="1" dirty="0">
                <a:solidFill>
                  <a:srgbClr val="212652"/>
                </a:solidFill>
                <a:latin typeface="Segoe IU"/>
                <a:cs typeface="Helvetica" panose="020B0604020202020204" pitchFamily="34" charset="0"/>
              </a:rPr>
              <a:t>Distribución de la muestra:</a:t>
            </a:r>
            <a:endParaRPr kumimoji="0" lang="es-CO" sz="800" b="1" i="0" u="none" strike="noStrike" kern="1200" cap="none" spc="0" normalizeH="0" baseline="0" noProof="0" dirty="0">
              <a:ln>
                <a:noFill/>
              </a:ln>
              <a:solidFill>
                <a:srgbClr val="373535"/>
              </a:solidFill>
              <a:effectLst/>
              <a:uLnTx/>
              <a:uFillTx/>
              <a:latin typeface="Segoe IU"/>
              <a:cs typeface="Helvetica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Segoe IU"/>
                <a:cs typeface="Helvetica" panose="020B0604020202020204" pitchFamily="34" charset="0"/>
              </a:rPr>
              <a:t>Se realizaron un total de 1700 encuestas distribuidas por región de la siguiente manera:</a:t>
            </a:r>
          </a:p>
        </p:txBody>
      </p:sp>
      <p:sp>
        <p:nvSpPr>
          <p:cNvPr id="11" name="52 CuadroTexto">
            <a:extLst>
              <a:ext uri="{FF2B5EF4-FFF2-40B4-BE49-F238E27FC236}">
                <a16:creationId xmlns:a16="http://schemas.microsoft.com/office/drawing/2014/main" id="{77730E7E-AFD4-E5C7-C412-D23E5F20A9F3}"/>
              </a:ext>
            </a:extLst>
          </p:cNvPr>
          <p:cNvSpPr txBox="1"/>
          <p:nvPr/>
        </p:nvSpPr>
        <p:spPr>
          <a:xfrm>
            <a:off x="6801981" y="5352210"/>
            <a:ext cx="4748530" cy="241962"/>
          </a:xfrm>
          <a:prstGeom prst="rect">
            <a:avLst/>
          </a:prstGeom>
          <a:noFill/>
        </p:spPr>
        <p:txBody>
          <a:bodyPr wrap="square" lIns="35991" tIns="35991" rIns="35991" bIns="35991" rtlCol="0" anchor="ctr">
            <a:sp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0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egoe IU"/>
                <a:ea typeface="Tahoma" panose="020B0604030504040204" pitchFamily="34" charset="0"/>
                <a:cs typeface="Segoe UI" panose="020B0502040204020203" pitchFamily="34" charset="0"/>
              </a:rPr>
              <a:t>Este tamaño muestral está de acuerdo con el contenido en la propuesta.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B293E46-5DCE-A48F-52D5-69318C93B5F2}"/>
              </a:ext>
            </a:extLst>
          </p:cNvPr>
          <p:cNvSpPr txBox="1"/>
          <p:nvPr/>
        </p:nvSpPr>
        <p:spPr>
          <a:xfrm>
            <a:off x="4151279" y="-30777"/>
            <a:ext cx="3889443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000" b="1" i="0" u="none" strike="noStrike" kern="1200" cap="none" spc="0" normalizeH="0" baseline="0" noProof="0" dirty="0">
                <a:ln>
                  <a:noFill/>
                </a:ln>
                <a:solidFill>
                  <a:srgbClr val="212652"/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Ficha técnica</a:t>
            </a:r>
          </a:p>
        </p:txBody>
      </p:sp>
      <p:sp>
        <p:nvSpPr>
          <p:cNvPr id="16" name="63 CuadroTexto">
            <a:extLst>
              <a:ext uri="{FF2B5EF4-FFF2-40B4-BE49-F238E27FC236}">
                <a16:creationId xmlns:a16="http://schemas.microsoft.com/office/drawing/2014/main" id="{D2BF140F-58CD-0F1F-3DBE-2AD92EC31527}"/>
              </a:ext>
            </a:extLst>
          </p:cNvPr>
          <p:cNvSpPr txBox="1"/>
          <p:nvPr/>
        </p:nvSpPr>
        <p:spPr>
          <a:xfrm>
            <a:off x="2441575" y="6582080"/>
            <a:ext cx="7308850" cy="24198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0" i="1" u="none" strike="noStrike" kern="1200" cap="none" spc="0" normalizeH="0" baseline="0" noProof="0" dirty="0">
                <a:ln>
                  <a:noFill/>
                </a:ln>
                <a:solidFill>
                  <a:srgbClr val="102335"/>
                </a:solidFill>
                <a:effectLst/>
                <a:uLnTx/>
                <a:uFillTx/>
                <a:latin typeface="Segoe IU"/>
                <a:ea typeface="+mn-ea"/>
                <a:cs typeface="Helvetica" panose="020B0604020202020204" pitchFamily="34" charset="0"/>
              </a:rPr>
              <a:t>El estudio se realizó en cumplimiento a la norma ISO 20252 versión 2019 Investigación de mercados social y de opinión.</a:t>
            </a:r>
          </a:p>
        </p:txBody>
      </p:sp>
      <p:pic>
        <p:nvPicPr>
          <p:cNvPr id="30" name="Imagen 29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2BAE6A1D-E901-5532-4E1A-A4F758E7033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1829" y="48330"/>
            <a:ext cx="1095926" cy="564501"/>
          </a:xfrm>
          <a:prstGeom prst="rect">
            <a:avLst/>
          </a:prstGeom>
        </p:spPr>
      </p:pic>
      <p:pic>
        <p:nvPicPr>
          <p:cNvPr id="31" name="Picture 4" descr="EAFIT - Transferencia de tecnología y conocimiento EAFIT">
            <a:extLst>
              <a:ext uri="{FF2B5EF4-FFF2-40B4-BE49-F238E27FC236}">
                <a16:creationId xmlns:a16="http://schemas.microsoft.com/office/drawing/2014/main" id="{51B29B3E-7FC0-8B1E-35AA-77607B19FF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383" y="121385"/>
            <a:ext cx="1160589" cy="38791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2" name="Tabla 31">
            <a:extLst>
              <a:ext uri="{FF2B5EF4-FFF2-40B4-BE49-F238E27FC236}">
                <a16:creationId xmlns:a16="http://schemas.microsoft.com/office/drawing/2014/main" id="{CD1D9F89-E44D-5B65-0674-84702E6A03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014711"/>
              </p:ext>
            </p:extLst>
          </p:nvPr>
        </p:nvGraphicFramePr>
        <p:xfrm>
          <a:off x="462864" y="1475486"/>
          <a:ext cx="5633136" cy="47071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0961">
                  <a:extLst>
                    <a:ext uri="{9D8B030D-6E8A-4147-A177-3AD203B41FA5}">
                      <a16:colId xmlns:a16="http://schemas.microsoft.com/office/drawing/2014/main" val="3103282726"/>
                    </a:ext>
                  </a:extLst>
                </a:gridCol>
                <a:gridCol w="3532175">
                  <a:extLst>
                    <a:ext uri="{9D8B030D-6E8A-4147-A177-3AD203B41FA5}">
                      <a16:colId xmlns:a16="http://schemas.microsoft.com/office/drawing/2014/main" val="3476735521"/>
                    </a:ext>
                  </a:extLst>
                </a:gridCol>
              </a:tblGrid>
              <a:tr h="326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b="1" dirty="0">
                          <a:solidFill>
                            <a:schemeClr val="bg1"/>
                          </a:solidFill>
                          <a:effectLst/>
                        </a:rPr>
                        <a:t>Caribe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26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b="1" dirty="0">
                          <a:solidFill>
                            <a:schemeClr val="bg1"/>
                          </a:solidFill>
                          <a:effectLst/>
                        </a:rPr>
                        <a:t>384 Encuestas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26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560018"/>
                  </a:ext>
                </a:extLst>
              </a:tr>
              <a:tr h="245781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Atlántico</a:t>
                      </a:r>
                      <a:endParaRPr lang="es-E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Barranquilla, Malambo, Soledad</a:t>
                      </a: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3429391"/>
                  </a:ext>
                </a:extLst>
              </a:tr>
              <a:tr h="245781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Bolívar</a:t>
                      </a: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Cartagena</a:t>
                      </a:r>
                      <a:endParaRPr lang="es-E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207055"/>
                  </a:ext>
                </a:extLst>
              </a:tr>
              <a:tr h="245781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Cesar</a:t>
                      </a: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Valledupar, Astrea, Bosconia, La Paz</a:t>
                      </a:r>
                      <a:endParaRPr lang="es-E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5646338"/>
                  </a:ext>
                </a:extLst>
              </a:tr>
              <a:tr h="39521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Córdoba</a:t>
                      </a:r>
                      <a:endParaRPr lang="es-E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E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Montería, </a:t>
                      </a:r>
                      <a:r>
                        <a:rPr kumimoji="0" lang="es-E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Chimá</a:t>
                      </a:r>
                      <a:r>
                        <a:rPr kumimoji="0" lang="es-E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Lorica, Planeta Rica, Pueblo Nuevo, Pueblo Nuevo, San Carlos, San Pelayo, Tierralta</a:t>
                      </a:r>
                      <a:endParaRPr lang="es-E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817515"/>
                  </a:ext>
                </a:extLst>
              </a:tr>
              <a:tr h="245781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 Guajira</a:t>
                      </a:r>
                      <a:endParaRPr lang="es-E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Maicao, Urumita</a:t>
                      </a: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8212037"/>
                  </a:ext>
                </a:extLst>
              </a:tr>
              <a:tr h="245781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Magdalena</a:t>
                      </a: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Santa Marta, Fundación</a:t>
                      </a:r>
                      <a:endParaRPr lang="es-E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7154277"/>
                  </a:ext>
                </a:extLst>
              </a:tr>
              <a:tr h="245781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Sucre</a:t>
                      </a: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Sincelejo</a:t>
                      </a: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464574"/>
                  </a:ext>
                </a:extLst>
              </a:tr>
              <a:tr h="34104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b="1" dirty="0">
                          <a:solidFill>
                            <a:schemeClr val="bg1"/>
                          </a:solidFill>
                          <a:effectLst/>
                        </a:rPr>
                        <a:t>Centro - Oriente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26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b="1" dirty="0">
                          <a:solidFill>
                            <a:schemeClr val="bg1"/>
                          </a:solidFill>
                          <a:effectLst/>
                        </a:rPr>
                        <a:t>544 Encuestas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26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95583"/>
                  </a:ext>
                </a:extLst>
              </a:tr>
              <a:tr h="245781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Bogotá, D.C.</a:t>
                      </a: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Bogotá, D.C.</a:t>
                      </a:r>
                      <a:endParaRPr lang="es-E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972143"/>
                  </a:ext>
                </a:extLst>
              </a:tr>
              <a:tr h="245781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Boyacá</a:t>
                      </a:r>
                      <a:endParaRPr lang="es-E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Tunja, Duitama, Puerto Boyacá, Ventaquemada</a:t>
                      </a:r>
                      <a:endParaRPr lang="es-E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88704"/>
                  </a:ext>
                </a:extLst>
              </a:tr>
              <a:tr h="245781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Cundinamarca</a:t>
                      </a:r>
                      <a:endParaRPr lang="es-E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Cajicá, Fusagasugá, Lenguazaque, Mosquera, Soacha, Une</a:t>
                      </a:r>
                      <a:endParaRPr lang="es-E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10197"/>
                  </a:ext>
                </a:extLst>
              </a:tr>
              <a:tr h="245781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Norte de Santander</a:t>
                      </a:r>
                      <a:endParaRPr lang="es-E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Cúcuta</a:t>
                      </a:r>
                      <a:endParaRPr lang="es-E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431013"/>
                  </a:ext>
                </a:extLst>
              </a:tr>
              <a:tr h="39521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Santander</a:t>
                      </a:r>
                      <a:endParaRPr lang="es-E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Bucaramanga, Barrancabermeja, Chipatá, Puerto Wilches, Vélez</a:t>
                      </a:r>
                      <a:endParaRPr lang="es-E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7780267"/>
                  </a:ext>
                </a:extLst>
              </a:tr>
              <a:tr h="3003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b="1" dirty="0">
                          <a:solidFill>
                            <a:schemeClr val="bg1"/>
                          </a:solidFill>
                          <a:effectLst/>
                        </a:rPr>
                        <a:t>Centro - Sur – Amazonía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26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b="1" dirty="0">
                          <a:solidFill>
                            <a:schemeClr val="bg1"/>
                          </a:solidFill>
                          <a:effectLst/>
                        </a:rPr>
                        <a:t>112 Encuestas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26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559693"/>
                  </a:ext>
                </a:extLst>
              </a:tr>
              <a:tr h="245781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Huila</a:t>
                      </a:r>
                      <a:endParaRPr lang="es-E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Neiva, Baraya, Garzón, Guadalupe</a:t>
                      </a:r>
                      <a:endParaRPr lang="es-E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183186"/>
                  </a:ext>
                </a:extLst>
              </a:tr>
              <a:tr h="245781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Tolima</a:t>
                      </a:r>
                      <a:endParaRPr lang="es-E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Ibagué, Chaparral, Flandes, Prado</a:t>
                      </a:r>
                      <a:endParaRPr lang="es-E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245041"/>
                  </a:ext>
                </a:extLst>
              </a:tr>
            </a:tbl>
          </a:graphicData>
        </a:graphic>
      </p:graphicFrame>
      <p:graphicFrame>
        <p:nvGraphicFramePr>
          <p:cNvPr id="34" name="Tabla 33">
            <a:extLst>
              <a:ext uri="{FF2B5EF4-FFF2-40B4-BE49-F238E27FC236}">
                <a16:creationId xmlns:a16="http://schemas.microsoft.com/office/drawing/2014/main" id="{F40ABD20-7690-C79B-0A6F-CCAFC071A5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500401"/>
              </p:ext>
            </p:extLst>
          </p:nvPr>
        </p:nvGraphicFramePr>
        <p:xfrm>
          <a:off x="6449127" y="1464930"/>
          <a:ext cx="5454238" cy="36522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34238">
                  <a:extLst>
                    <a:ext uri="{9D8B030D-6E8A-4147-A177-3AD203B41FA5}">
                      <a16:colId xmlns:a16="http://schemas.microsoft.com/office/drawing/2014/main" val="3103282726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476735521"/>
                    </a:ext>
                  </a:extLst>
                </a:gridCol>
              </a:tblGrid>
              <a:tr h="3775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b="1" dirty="0">
                          <a:solidFill>
                            <a:schemeClr val="bg1"/>
                          </a:solidFill>
                          <a:effectLst/>
                        </a:rPr>
                        <a:t>Eje Cafetero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26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b="1" dirty="0">
                          <a:solidFill>
                            <a:schemeClr val="bg1"/>
                          </a:solidFill>
                          <a:effectLst/>
                        </a:rPr>
                        <a:t>312 Encuestas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26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560018"/>
                  </a:ext>
                </a:extLst>
              </a:tr>
              <a:tr h="218186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Antioquia</a:t>
                      </a:r>
                      <a:endParaRPr lang="es-E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Medellín, Bello, Copacabana, Ebéjico, Envigado, Hispania, Itagüí, Santa Bárbara, Turbo, Yondó</a:t>
                      </a:r>
                      <a:endParaRPr lang="es-E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3429391"/>
                  </a:ext>
                </a:extLst>
              </a:tr>
              <a:tr h="218186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Caldas</a:t>
                      </a:r>
                      <a:endParaRPr lang="es-E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Manizales, Chinchiná, Villamaría</a:t>
                      </a:r>
                      <a:endParaRPr lang="es-E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207055"/>
                  </a:ext>
                </a:extLst>
              </a:tr>
              <a:tr h="218186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Quindío</a:t>
                      </a:r>
                      <a:endParaRPr lang="es-E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 Tebaida</a:t>
                      </a:r>
                      <a:endParaRPr lang="es-E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5646338"/>
                  </a:ext>
                </a:extLst>
              </a:tr>
              <a:tr h="218186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Risaralda</a:t>
                      </a:r>
                      <a:endParaRPr lang="es-E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Pereira</a:t>
                      </a:r>
                      <a:endParaRPr lang="es-E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817515"/>
                  </a:ext>
                </a:extLst>
              </a:tr>
              <a:tr h="37302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b="1" dirty="0">
                          <a:solidFill>
                            <a:schemeClr val="bg1"/>
                          </a:solidFill>
                          <a:effectLst/>
                        </a:rPr>
                        <a:t>Llano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26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b="1" dirty="0">
                          <a:solidFill>
                            <a:schemeClr val="bg1"/>
                          </a:solidFill>
                          <a:effectLst/>
                        </a:rPr>
                        <a:t>80 Encuestas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26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95583"/>
                  </a:ext>
                </a:extLst>
              </a:tr>
              <a:tr h="218186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Casanare</a:t>
                      </a:r>
                      <a:endParaRPr lang="es-E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Yopal, Támara, Tauramena</a:t>
                      </a:r>
                      <a:endParaRPr lang="es-E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972143"/>
                  </a:ext>
                </a:extLst>
              </a:tr>
              <a:tr h="218186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Guaviare</a:t>
                      </a: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San José del Guaviare</a:t>
                      </a:r>
                      <a:endParaRPr lang="es-E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88704"/>
                  </a:ext>
                </a:extLst>
              </a:tr>
              <a:tr h="218186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Meta</a:t>
                      </a: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Villavicencio</a:t>
                      </a:r>
                      <a:endParaRPr lang="es-E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10197"/>
                  </a:ext>
                </a:extLst>
              </a:tr>
              <a:tr h="3690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b="1" dirty="0">
                          <a:solidFill>
                            <a:schemeClr val="bg1"/>
                          </a:solidFill>
                          <a:effectLst/>
                        </a:rPr>
                        <a:t>Pacífico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26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b="1" dirty="0">
                          <a:solidFill>
                            <a:schemeClr val="bg1"/>
                          </a:solidFill>
                          <a:effectLst/>
                        </a:rPr>
                        <a:t>268 Encuestas</a:t>
                      </a:r>
                      <a:endParaRPr lang="es-E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26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559693"/>
                  </a:ext>
                </a:extLst>
              </a:tr>
              <a:tr h="218186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Cauca</a:t>
                      </a: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E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Popayán, </a:t>
                      </a:r>
                      <a:r>
                        <a:rPr kumimoji="0" lang="es-E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Inzá</a:t>
                      </a:r>
                      <a:r>
                        <a:rPr kumimoji="0" lang="es-E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Piendamó - </a:t>
                      </a:r>
                      <a:r>
                        <a:rPr kumimoji="0" lang="es-E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Tunía</a:t>
                      </a:r>
                      <a:r>
                        <a:rPr kumimoji="0" lang="es-E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Puracé</a:t>
                      </a:r>
                      <a:endParaRPr lang="es-E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183186"/>
                  </a:ext>
                </a:extLst>
              </a:tr>
              <a:tr h="218186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Chocó</a:t>
                      </a: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Riosucio</a:t>
                      </a:r>
                      <a:endParaRPr lang="es-E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245041"/>
                  </a:ext>
                </a:extLst>
              </a:tr>
              <a:tr h="218186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Nariño</a:t>
                      </a: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Pasto, Buesaco, Colón, Ipiales, San Andrés de Tumaco</a:t>
                      </a:r>
                      <a:endParaRPr lang="es-E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7467715"/>
                  </a:ext>
                </a:extLst>
              </a:tr>
              <a:tr h="218186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Valle del Cauca</a:t>
                      </a:r>
                      <a:endParaRPr lang="es-E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kumimoji="0" lang="es-CO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Cali, Alcalá, Buenaventura, Palmira</a:t>
                      </a:r>
                      <a:endParaRPr lang="es-E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470923"/>
                  </a:ext>
                </a:extLst>
              </a:tr>
            </a:tbl>
          </a:graphicData>
        </a:graphic>
      </p:graphicFrame>
      <p:sp>
        <p:nvSpPr>
          <p:cNvPr id="35" name="CuadroTexto 34">
            <a:extLst>
              <a:ext uri="{FF2B5EF4-FFF2-40B4-BE49-F238E27FC236}">
                <a16:creationId xmlns:a16="http://schemas.microsoft.com/office/drawing/2014/main" id="{A0588824-D5F3-3516-64B3-A378703E7199}"/>
              </a:ext>
            </a:extLst>
          </p:cNvPr>
          <p:cNvSpPr txBox="1"/>
          <p:nvPr/>
        </p:nvSpPr>
        <p:spPr>
          <a:xfrm>
            <a:off x="1774825" y="6347104"/>
            <a:ext cx="8642350" cy="260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CO" sz="1100" i="1" dirty="0">
                <a:solidFill>
                  <a:srgbClr val="102335"/>
                </a:solidFill>
                <a:latin typeface="Segoe IU"/>
                <a:cs typeface="Helvetica" panose="020B0604020202020204" pitchFamily="34" charset="0"/>
              </a:rPr>
              <a:t>Estudio regulado por la ley 2494 de 2025: Sus análisis podrán ser publicados en medios de comunicación únicamente por total.</a:t>
            </a:r>
            <a:endParaRPr lang="es-ES" sz="1100" i="1" dirty="0">
              <a:solidFill>
                <a:srgbClr val="102335"/>
              </a:solidFill>
              <a:latin typeface="Segoe IU"/>
              <a:cs typeface="Helvetica" panose="020B0604020202020204" pitchFamily="34" charset="0"/>
            </a:endParaRPr>
          </a:p>
        </p:txBody>
      </p:sp>
      <p:pic>
        <p:nvPicPr>
          <p:cNvPr id="36" name="Imagen 35" descr="Icono&#10;&#10;Descripción generada automáticamente">
            <a:extLst>
              <a:ext uri="{FF2B5EF4-FFF2-40B4-BE49-F238E27FC236}">
                <a16:creationId xmlns:a16="http://schemas.microsoft.com/office/drawing/2014/main" id="{FDEF7788-139F-1BF6-34F6-66FD329E6CC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877" y="752473"/>
            <a:ext cx="637092" cy="637092"/>
          </a:xfrm>
          <a:prstGeom prst="rect">
            <a:avLst/>
          </a:prstGeom>
        </p:spPr>
      </p:pic>
      <p:sp>
        <p:nvSpPr>
          <p:cNvPr id="2" name="52 CuadroTexto">
            <a:extLst>
              <a:ext uri="{FF2B5EF4-FFF2-40B4-BE49-F238E27FC236}">
                <a16:creationId xmlns:a16="http://schemas.microsoft.com/office/drawing/2014/main" id="{3BADCCD6-3E12-4772-33A8-B4ADBE953013}"/>
              </a:ext>
            </a:extLst>
          </p:cNvPr>
          <p:cNvSpPr txBox="1"/>
          <p:nvPr/>
        </p:nvSpPr>
        <p:spPr>
          <a:xfrm>
            <a:off x="6801981" y="5676710"/>
            <a:ext cx="4748530" cy="580516"/>
          </a:xfrm>
          <a:prstGeom prst="rect">
            <a:avLst/>
          </a:prstGeom>
          <a:noFill/>
        </p:spPr>
        <p:txBody>
          <a:bodyPr wrap="square" lIns="35991" tIns="35991" rIns="35991" bIns="35991" rtlCol="0" anchor="ctr">
            <a:sp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egoe IU"/>
                <a:ea typeface="Tahoma" panose="020B0604030504040204" pitchFamily="34" charset="0"/>
                <a:cs typeface="Segoe UI" panose="020B0502040204020203" pitchFamily="34" charset="0"/>
              </a:rPr>
              <a:t>Las personas participantes en la realización del presente proyecto lo hicieron de manera voluntaria y en ningún caso recibieron contraprestaciones por su participación.</a:t>
            </a:r>
            <a:endParaRPr kumimoji="0" lang="es-CO" sz="1100" b="0" i="1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Segoe IU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0760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9733c9-c91d-40ba-8577-e58496ed48f3" xsi:nil="true"/>
    <lcf76f155ced4ddcb4097134ff3c332f xmlns="5dfc5b7e-5d09-4e72-9691-69d93b65956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31276D52FD9764EA165A645F7F001A5" ma:contentTypeVersion="16" ma:contentTypeDescription="Crear nuevo documento." ma:contentTypeScope="" ma:versionID="724528883d085a67d964f8801ece9bc9">
  <xsd:schema xmlns:xsd="http://www.w3.org/2001/XMLSchema" xmlns:xs="http://www.w3.org/2001/XMLSchema" xmlns:p="http://schemas.microsoft.com/office/2006/metadata/properties" xmlns:ns2="e99733c9-c91d-40ba-8577-e58496ed48f3" xmlns:ns3="5dfc5b7e-5d09-4e72-9691-69d93b65956e" targetNamespace="http://schemas.microsoft.com/office/2006/metadata/properties" ma:root="true" ma:fieldsID="c61bd30d1b521090f0daaf3ad1a32831" ns2:_="" ns3:_="">
    <xsd:import namespace="e99733c9-c91d-40ba-8577-e58496ed48f3"/>
    <xsd:import namespace="5dfc5b7e-5d09-4e72-9691-69d93b65956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Location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9733c9-c91d-40ba-8577-e58496ed48f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2abb3995-02c0-4273-af47-27556ee8f627}" ma:internalName="TaxCatchAll" ma:showField="CatchAllData" ma:web="e99733c9-c91d-40ba-8577-e58496ed48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fc5b7e-5d09-4e72-9691-69d93b6595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d43fd74c-e566-4ab2-ba0b-43653427c87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B1165C7-F8E7-418E-BAAE-CBB40B192E04}">
  <ds:schemaRefs>
    <ds:schemaRef ds:uri="http://schemas.microsoft.com/office/2006/metadata/properties"/>
    <ds:schemaRef ds:uri="http://schemas.microsoft.com/office/infopath/2007/PartnerControls"/>
    <ds:schemaRef ds:uri="e99733c9-c91d-40ba-8577-e58496ed48f3"/>
    <ds:schemaRef ds:uri="5dfc5b7e-5d09-4e72-9691-69d93b65956e"/>
  </ds:schemaRefs>
</ds:datastoreItem>
</file>

<file path=customXml/itemProps2.xml><?xml version="1.0" encoding="utf-8"?>
<ds:datastoreItem xmlns:ds="http://schemas.openxmlformats.org/officeDocument/2006/customXml" ds:itemID="{08AE9B01-41EA-431C-8388-485E6E5203BB}"/>
</file>

<file path=customXml/itemProps3.xml><?xml version="1.0" encoding="utf-8"?>
<ds:datastoreItem xmlns:ds="http://schemas.openxmlformats.org/officeDocument/2006/customXml" ds:itemID="{243A7733-3EC4-4780-B8CC-53105257A41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878</Words>
  <Application>Microsoft Office PowerPoint</Application>
  <PresentationFormat>Panorámica</PresentationFormat>
  <Paragraphs>112</Paragraphs>
  <Slides>2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Segoe IU</vt:lpstr>
      <vt:lpstr>Tema de Office</vt:lpstr>
      <vt:lpstr>Worksheet</vt:lpstr>
      <vt:lpstr>Acrobat Document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Gimena Zapata Palacio</dc:creator>
  <cp:lastModifiedBy>Fredy Zapata</cp:lastModifiedBy>
  <cp:revision>4</cp:revision>
  <dcterms:created xsi:type="dcterms:W3CDTF">2025-11-14T12:16:09Z</dcterms:created>
  <dcterms:modified xsi:type="dcterms:W3CDTF">2025-11-25T21:20:05Z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0x010100231276D52FD9764EA165A645F7F001A5</vt:lpwstr>
  </property>
  <property fmtid="{D5CDD505-2E9C-101B-9397-08002B2CF9AE}" pid="3" name="MediaServiceImageTags">
    <vt:lpwstr/>
  </property>
</Properties>
</file>